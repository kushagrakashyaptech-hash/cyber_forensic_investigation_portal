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57" r:id="rId4"/>
    <p:sldId id="258" r:id="rId5"/>
  </p:sldIdLst>
  <p:sldSz cx="18288000" cy="10287000"/>
  <p:notesSz cx="6858000" cy="9144000"/>
  <p:embeddedFontLst>
    <p:embeddedFont>
      <p:font typeface="Arial Rounded MT Bold" panose="020F0704030504030204" pitchFamily="34" charset="0"/>
      <p:regular r:id="rId7"/>
    </p:embeddedFont>
    <p:embeddedFont>
      <p:font typeface="Belleza" panose="020B0604020202020204" charset="0"/>
      <p:regular r:id="rId8"/>
    </p:embeddedFont>
    <p:embeddedFont>
      <p:font typeface="Franklin Gothic Demi" panose="020B0703020102020204" pitchFamily="34" charset="0"/>
      <p:regular r:id="rId9"/>
      <p:italic r:id="rId10"/>
    </p:embeddedFont>
    <p:embeddedFont>
      <p:font typeface="Perpetua Titling MT" panose="020205020605050208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6F3E2-38DA-45B8-BA40-CF6FD1D1F93B}" v="4" dt="2026-10-01T07:30:05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1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shagra Kashyap RA2511056010002" userId="c78707d74eba2150" providerId="LiveId" clId="{46986C21-F22A-44F7-99B1-EA1613C5B8C7}"/>
    <pc:docChg chg="undo custSel modSld">
      <pc:chgData name="Kushagra Kashyap RA2511056010002" userId="c78707d74eba2150" providerId="LiveId" clId="{46986C21-F22A-44F7-99B1-EA1613C5B8C7}" dt="2026-10-01T07:30:05.800" v="53"/>
      <pc:docMkLst>
        <pc:docMk/>
      </pc:docMkLst>
      <pc:sldChg chg="modSp mod">
        <pc:chgData name="Kushagra Kashyap RA2511056010002" userId="c78707d74eba2150" providerId="LiveId" clId="{46986C21-F22A-44F7-99B1-EA1613C5B8C7}" dt="2026-10-01T07:30:05.800" v="53"/>
        <pc:sldMkLst>
          <pc:docMk/>
          <pc:sldMk cId="979802840" sldId="258"/>
        </pc:sldMkLst>
        <pc:spChg chg="mod">
          <ac:chgData name="Kushagra Kashyap RA2511056010002" userId="c78707d74eba2150" providerId="LiveId" clId="{46986C21-F22A-44F7-99B1-EA1613C5B8C7}" dt="2026-10-01T07:28:31.362" v="26" actId="20577"/>
          <ac:spMkLst>
            <pc:docMk/>
            <pc:sldMk cId="979802840" sldId="258"/>
            <ac:spMk id="16" creationId="{40FD36A1-CF2B-4328-BEDB-C1C12BC1023C}"/>
          </ac:spMkLst>
        </pc:spChg>
        <pc:spChg chg="mod">
          <ac:chgData name="Kushagra Kashyap RA2511056010002" userId="c78707d74eba2150" providerId="LiveId" clId="{46986C21-F22A-44F7-99B1-EA1613C5B8C7}" dt="2026-10-01T07:29:21.522" v="36" actId="21"/>
          <ac:spMkLst>
            <pc:docMk/>
            <pc:sldMk cId="979802840" sldId="258"/>
            <ac:spMk id="37" creationId="{B35F9E2B-D43F-4251-9C2A-A1DA32E94688}"/>
          </ac:spMkLst>
        </pc:spChg>
        <pc:spChg chg="mod">
          <ac:chgData name="Kushagra Kashyap RA2511056010002" userId="c78707d74eba2150" providerId="LiveId" clId="{46986C21-F22A-44F7-99B1-EA1613C5B8C7}" dt="2026-10-01T07:29:58.562" v="50" actId="20577"/>
          <ac:spMkLst>
            <pc:docMk/>
            <pc:sldMk cId="979802840" sldId="258"/>
            <ac:spMk id="43" creationId="{F667E905-D1A9-48D2-9213-DE69731D331C}"/>
          </ac:spMkLst>
        </pc:spChg>
        <pc:spChg chg="mod">
          <ac:chgData name="Kushagra Kashyap RA2511056010002" userId="c78707d74eba2150" providerId="LiveId" clId="{46986C21-F22A-44F7-99B1-EA1613C5B8C7}" dt="2026-10-01T07:30:05.800" v="53"/>
          <ac:spMkLst>
            <pc:docMk/>
            <pc:sldMk cId="979802840" sldId="258"/>
            <ac:spMk id="49" creationId="{C764C8BC-56C3-42C2-817C-FEBC089AF8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E5C80-D906-4710-BFCF-042F556CD77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143D-7CA2-4294-9AC0-C10A49837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2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WhatsApp Image 2026-09-30 at 11.30.09 PM.jpeg. Project status and implementation details reproduce the supplied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WhatsApp Image 2026-09-30 at 11.30.09 PM (1).jpeg. All dates and statuses reproduce the supplied timeline. First-review status: core modules implemented and advanced work planned for upcoming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528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336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88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216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216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5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2339" y="1533525"/>
            <a:ext cx="13513291" cy="367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59"/>
              </a:lnSpc>
            </a:pPr>
            <a:r>
              <a:rPr lang="en-US" sz="15999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Cyber Forensic Portal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923B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704960"/>
            <a:ext cx="3086100" cy="613154"/>
            <a:chOff x="0" y="0"/>
            <a:chExt cx="812800" cy="1614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61489"/>
            </a:xfrm>
            <a:custGeom>
              <a:avLst/>
              <a:gdLst/>
              <a:ahLst/>
              <a:cxnLst/>
              <a:rect l="l" t="t" r="r" b="b"/>
              <a:pathLst>
                <a:path w="812800" h="161489">
                  <a:moveTo>
                    <a:pt x="0" y="0"/>
                  </a:moveTo>
                  <a:lnTo>
                    <a:pt x="812800" y="0"/>
                  </a:lnTo>
                  <a:lnTo>
                    <a:pt x="812800" y="161489"/>
                  </a:lnTo>
                  <a:lnTo>
                    <a:pt x="0" y="161489"/>
                  </a:lnTo>
                  <a:close/>
                </a:path>
              </a:pathLst>
            </a:custGeom>
            <a:solidFill>
              <a:srgbClr val="923B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209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2339" y="5125453"/>
            <a:ext cx="13513291" cy="1120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9401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Review: 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45004" y="7233319"/>
            <a:ext cx="17513791" cy="27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5002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Team members:</a:t>
            </a:r>
          </a:p>
          <a:p>
            <a:pPr marL="1079967" lvl="1" indent="-539983" algn="l">
              <a:lnSpc>
                <a:spcPts val="4301"/>
              </a:lnSpc>
              <a:buAutoNum type="arabicPeriod"/>
            </a:pPr>
            <a:r>
              <a:rPr lang="en-US" sz="5002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Kushagra Kashyap    RA2511056010002</a:t>
            </a:r>
          </a:p>
          <a:p>
            <a:pPr marL="1079967" lvl="1" indent="-539983" algn="l">
              <a:lnSpc>
                <a:spcPts val="4301"/>
              </a:lnSpc>
              <a:buAutoNum type="arabicPeriod"/>
            </a:pPr>
            <a:r>
              <a:rPr lang="en-US" sz="5002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Shreesh Shrivastava RA2511056010004</a:t>
            </a:r>
          </a:p>
          <a:p>
            <a:pPr marL="1079967" lvl="1" indent="-539983" algn="l">
              <a:lnSpc>
                <a:spcPts val="4301"/>
              </a:lnSpc>
              <a:buAutoNum type="arabicPeriod"/>
            </a:pPr>
            <a:r>
              <a:rPr lang="en-US" sz="5002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Shashwat Singh       RA2511056010013</a:t>
            </a:r>
          </a:p>
          <a:p>
            <a:pPr marL="1079967" lvl="1" indent="-539983" algn="l">
              <a:lnSpc>
                <a:spcPts val="4301"/>
              </a:lnSpc>
              <a:buAutoNum type="arabicPeriod"/>
            </a:pPr>
            <a:r>
              <a:rPr lang="en-US" sz="5002">
                <a:solidFill>
                  <a:srgbClr val="FFFAF9"/>
                </a:solidFill>
                <a:latin typeface="Belleza"/>
                <a:ea typeface="Belleza"/>
                <a:cs typeface="Belleza"/>
                <a:sym typeface="Belleza"/>
              </a:rPr>
              <a:t>Kenisha Upreti         RA2511056010015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F67C440-869C-4A41-8B94-1698460C3436}"/>
              </a:ext>
            </a:extLst>
          </p:cNvPr>
          <p:cNvSpPr>
            <a:spLocks noGrp="1"/>
          </p:cNvSpPr>
          <p:nvPr/>
        </p:nvSpPr>
        <p:spPr>
          <a:xfrm>
            <a:off x="742950" y="537210"/>
            <a:ext cx="16802100" cy="8686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7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3870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Objectives </a:t>
            </a:r>
            <a:r>
              <a:rPr lang="en-US" sz="3870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&amp;</a:t>
            </a:r>
            <a:r>
              <a:rPr sz="3870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Problem Statement</a:t>
            </a:r>
            <a:r>
              <a:rPr lang="en-US" sz="3870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</a:t>
            </a:r>
            <a:r>
              <a:rPr lang="en-US" sz="3870" dirty="0">
                <a:solidFill>
                  <a:srgbClr val="42795A"/>
                </a:solidFill>
                <a:latin typeface="Franklin Gothic Demi" panose="020B0703020102020204" pitchFamily="34" charset="0"/>
                <a:ea typeface="DejaVu Sans"/>
                <a:cs typeface="DejaVu Sans"/>
              </a:rPr>
              <a:t>:-</a:t>
            </a:r>
            <a:endParaRPr sz="3870" dirty="0">
              <a:solidFill>
                <a:srgbClr val="42795A"/>
              </a:solidFill>
              <a:latin typeface="Franklin Gothic Demi" panose="020B0703020102020204" pitchFamily="34" charset="0"/>
              <a:ea typeface="DejaVu Sans"/>
              <a:cs typeface="DejaVu Sans"/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5DA02BB-E768-40CF-B6AF-46BF50F61E41}"/>
              </a:ext>
            </a:extLst>
          </p:cNvPr>
          <p:cNvSpPr>
            <a:spLocks noGrp="1"/>
          </p:cNvSpPr>
          <p:nvPr/>
        </p:nvSpPr>
        <p:spPr>
          <a:xfrm>
            <a:off x="800100" y="1394460"/>
            <a:ext cx="16687800" cy="0"/>
          </a:xfrm>
          <a:prstGeom prst="line">
            <a:avLst/>
          </a:prstGeom>
          <a:noFill/>
          <a:ln w="9525">
            <a:solidFill>
              <a:srgbClr val="42795A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BCF9E-D162-4B8D-9136-EC8A14416488}"/>
              </a:ext>
            </a:extLst>
          </p:cNvPr>
          <p:cNvSpPr>
            <a:spLocks noGrp="1"/>
          </p:cNvSpPr>
          <p:nvPr/>
        </p:nvSpPr>
        <p:spPr>
          <a:xfrm>
            <a:off x="14833795" y="774384"/>
            <a:ext cx="3022209" cy="85153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3360" b="0" dirty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First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F7AB6-A115-4A51-B355-BCAF773ADC49}"/>
              </a:ext>
            </a:extLst>
          </p:cNvPr>
          <p:cNvSpPr>
            <a:spLocks noGrp="1"/>
          </p:cNvSpPr>
          <p:nvPr/>
        </p:nvSpPr>
        <p:spPr>
          <a:xfrm>
            <a:off x="16687800" y="9715500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D267F-5506-4CCD-AD46-2451284A66D3}"/>
              </a:ext>
            </a:extLst>
          </p:cNvPr>
          <p:cNvSpPr>
            <a:spLocks noGrp="1"/>
          </p:cNvSpPr>
          <p:nvPr/>
        </p:nvSpPr>
        <p:spPr>
          <a:xfrm>
            <a:off x="2296257" y="2306516"/>
            <a:ext cx="7658100" cy="4284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1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2610" b="1" u="sng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Problem Statement</a:t>
            </a:r>
            <a:r>
              <a:rPr lang="en-US" sz="2610" b="1" u="sng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 </a:t>
            </a:r>
            <a:r>
              <a:rPr lang="en-US" sz="2610" b="1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:</a:t>
            </a:r>
            <a:endParaRPr sz="2610" b="1" dirty="0">
              <a:solidFill>
                <a:srgbClr val="AD7839"/>
              </a:solidFill>
              <a:latin typeface="Arial Rounded MT Bold" panose="020F0704030504030204" pitchFamily="34" charset="0"/>
              <a:ea typeface="DejaVu Sans"/>
              <a:cs typeface="DejaVu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2AC93-EDA8-44AA-A55D-9CC7D63D5B1B}"/>
              </a:ext>
            </a:extLst>
          </p:cNvPr>
          <p:cNvSpPr>
            <a:spLocks noGrp="1"/>
          </p:cNvSpPr>
          <p:nvPr/>
        </p:nvSpPr>
        <p:spPr>
          <a:xfrm>
            <a:off x="800100" y="2805774"/>
            <a:ext cx="7013917" cy="12801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03A34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Case details, evidence records and investigation data become difficult to manage when maintained separately.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97BD4-E37D-48B8-B816-97FD58D94F1B}"/>
              </a:ext>
            </a:extLst>
          </p:cNvPr>
          <p:cNvSpPr>
            <a:spLocks noGrp="1"/>
          </p:cNvSpPr>
          <p:nvPr/>
        </p:nvSpPr>
        <p:spPr>
          <a:xfrm>
            <a:off x="11988604" y="2354580"/>
            <a:ext cx="1965667" cy="548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1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2610" b="1" u="sng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Objective</a:t>
            </a:r>
            <a:r>
              <a:rPr lang="en-US" sz="2610" b="1" u="sng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 </a:t>
            </a:r>
            <a:r>
              <a:rPr lang="en-US" sz="2610" b="1" dirty="0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:</a:t>
            </a:r>
            <a:endParaRPr sz="2610" b="1" dirty="0">
              <a:solidFill>
                <a:srgbClr val="AD7839"/>
              </a:solidFill>
              <a:latin typeface="Arial Rounded MT Bold" panose="020F0704030504030204" pitchFamily="34" charset="0"/>
              <a:ea typeface="DejaVu Sans"/>
              <a:cs typeface="DejaVu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0C9A72-7185-4279-A52F-8FA7FEFD80A7}"/>
              </a:ext>
            </a:extLst>
          </p:cNvPr>
          <p:cNvSpPr>
            <a:spLocks noGrp="1"/>
          </p:cNvSpPr>
          <p:nvPr/>
        </p:nvSpPr>
        <p:spPr>
          <a:xfrm>
            <a:off x="9016510" y="2769284"/>
            <a:ext cx="8286750" cy="8801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03A34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Provide one structured desktop system to manage cyber-forensic cases and digital evidence.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094D2-E47D-426F-BECA-A3D68A218AEE}"/>
              </a:ext>
            </a:extLst>
          </p:cNvPr>
          <p:cNvSpPr>
            <a:spLocks noGrp="1"/>
          </p:cNvSpPr>
          <p:nvPr/>
        </p:nvSpPr>
        <p:spPr>
          <a:xfrm>
            <a:off x="8959360" y="3999439"/>
            <a:ext cx="8343900" cy="4343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2070" b="1" dirty="0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1. Case Management</a:t>
            </a:r>
            <a:r>
              <a:rPr lang="en-US" sz="2070" b="1" dirty="0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 :</a:t>
            </a:r>
            <a:endParaRPr sz="2070" b="1" dirty="0">
              <a:solidFill>
                <a:srgbClr val="42795A"/>
              </a:solidFill>
              <a:latin typeface="Arial Rounded MT Bold" panose="020F0704030504030204" pitchFamily="34" charset="0"/>
              <a:ea typeface="DejaVu Sans"/>
              <a:cs typeface="DejaVu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D5535-17CF-491C-9A9D-055A7A998328}"/>
              </a:ext>
            </a:extLst>
          </p:cNvPr>
          <p:cNvSpPr>
            <a:spLocks noGrp="1"/>
          </p:cNvSpPr>
          <p:nvPr/>
        </p:nvSpPr>
        <p:spPr>
          <a:xfrm>
            <a:off x="9406890" y="4422349"/>
            <a:ext cx="7852410" cy="4343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303A34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Store and manage investigation case details.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EABD7-743F-4FA8-90C5-DC9199AA064D}"/>
              </a:ext>
            </a:extLst>
          </p:cNvPr>
          <p:cNvSpPr>
            <a:spLocks noGrp="1"/>
          </p:cNvSpPr>
          <p:nvPr/>
        </p:nvSpPr>
        <p:spPr>
          <a:xfrm>
            <a:off x="8915400" y="5183848"/>
            <a:ext cx="8343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2070" b="1" dirty="0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2. Evidence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7767C-86E3-4ED6-AE74-DBDC9522AA14}"/>
              </a:ext>
            </a:extLst>
          </p:cNvPr>
          <p:cNvSpPr>
            <a:spLocks noGrp="1"/>
          </p:cNvSpPr>
          <p:nvPr/>
        </p:nvSpPr>
        <p:spPr>
          <a:xfrm>
            <a:off x="9406888" y="5588208"/>
            <a:ext cx="7852410" cy="4343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303A34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Record evidence information and selected files.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F42904-B19D-43F2-8A93-EF42CB0BBEDE}"/>
              </a:ext>
            </a:extLst>
          </p:cNvPr>
          <p:cNvSpPr>
            <a:spLocks noGrp="1"/>
          </p:cNvSpPr>
          <p:nvPr/>
        </p:nvSpPr>
        <p:spPr>
          <a:xfrm>
            <a:off x="8915400" y="6271149"/>
            <a:ext cx="8343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2070" b="1" dirty="0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3. Evidence Integrity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668A0F-1AFF-418E-ADC1-EAA0F0849150}"/>
              </a:ext>
            </a:extLst>
          </p:cNvPr>
          <p:cNvSpPr>
            <a:spLocks noGrp="1"/>
          </p:cNvSpPr>
          <p:nvPr/>
        </p:nvSpPr>
        <p:spPr>
          <a:xfrm>
            <a:off x="9406888" y="6676914"/>
            <a:ext cx="7852410" cy="4343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303A34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Generate SHA-256 hashes for selected evidence files.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1EC55B-D851-44F8-971B-0EACDF474F8C}"/>
              </a:ext>
            </a:extLst>
          </p:cNvPr>
          <p:cNvSpPr>
            <a:spLocks noGrp="1"/>
          </p:cNvSpPr>
          <p:nvPr/>
        </p:nvSpPr>
        <p:spPr>
          <a:xfrm>
            <a:off x="800100" y="5120640"/>
            <a:ext cx="2114550" cy="65151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9CC2F-2BD0-479E-ACE1-CD267758E2CB}"/>
              </a:ext>
            </a:extLst>
          </p:cNvPr>
          <p:cNvSpPr>
            <a:spLocks noGrp="1"/>
          </p:cNvSpPr>
          <p:nvPr/>
        </p:nvSpPr>
        <p:spPr>
          <a:xfrm>
            <a:off x="891540" y="5200650"/>
            <a:ext cx="1931670" cy="4800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Case details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92A98-7E99-4E7A-AB2E-61DAD6E6D402}"/>
              </a:ext>
            </a:extLst>
          </p:cNvPr>
          <p:cNvSpPr>
            <a:spLocks noGrp="1"/>
          </p:cNvSpPr>
          <p:nvPr/>
        </p:nvSpPr>
        <p:spPr>
          <a:xfrm>
            <a:off x="3143250" y="5120640"/>
            <a:ext cx="1920240" cy="65151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483F9-012D-4998-8B27-BD918AB929DD}"/>
              </a:ext>
            </a:extLst>
          </p:cNvPr>
          <p:cNvSpPr>
            <a:spLocks noGrp="1"/>
          </p:cNvSpPr>
          <p:nvPr/>
        </p:nvSpPr>
        <p:spPr>
          <a:xfrm>
            <a:off x="3234690" y="5200650"/>
            <a:ext cx="1737360" cy="4800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A76D32-8A04-4C4B-B17B-9E583DCE1BA4}"/>
              </a:ext>
            </a:extLst>
          </p:cNvPr>
          <p:cNvSpPr>
            <a:spLocks noGrp="1"/>
          </p:cNvSpPr>
          <p:nvPr/>
        </p:nvSpPr>
        <p:spPr>
          <a:xfrm>
            <a:off x="5292090" y="5120640"/>
            <a:ext cx="1920240" cy="65151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51DEE1-9BD6-4831-A07D-F80C1EEC2B63}"/>
              </a:ext>
            </a:extLst>
          </p:cNvPr>
          <p:cNvSpPr>
            <a:spLocks noGrp="1"/>
          </p:cNvSpPr>
          <p:nvPr/>
        </p:nvSpPr>
        <p:spPr>
          <a:xfrm>
            <a:off x="5383530" y="5200650"/>
            <a:ext cx="1737360" cy="4800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Records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F3BAEA-A82F-4E70-ADB4-EA5DCAB24E4F}"/>
              </a:ext>
            </a:extLst>
          </p:cNvPr>
          <p:cNvSpPr>
            <a:spLocks noGrp="1"/>
          </p:cNvSpPr>
          <p:nvPr/>
        </p:nvSpPr>
        <p:spPr>
          <a:xfrm>
            <a:off x="800100" y="6069330"/>
            <a:ext cx="6972300" cy="6057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Managed together in one portal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3C3506-D65D-431F-9137-B7DBB86F116A}"/>
              </a:ext>
            </a:extLst>
          </p:cNvPr>
          <p:cNvSpPr>
            <a:spLocks noGrp="1"/>
          </p:cNvSpPr>
          <p:nvPr/>
        </p:nvSpPr>
        <p:spPr>
          <a:xfrm>
            <a:off x="685800" y="7898130"/>
            <a:ext cx="16459200" cy="5372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3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2430" b="1">
                <a:solidFill>
                  <a:srgbClr val="AD783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Current Working Prototype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20BEAC-6CF1-4BC8-BC68-01D4E420EF49}"/>
              </a:ext>
            </a:extLst>
          </p:cNvPr>
          <p:cNvSpPr>
            <a:spLocks noGrp="1"/>
          </p:cNvSpPr>
          <p:nvPr/>
        </p:nvSpPr>
        <p:spPr>
          <a:xfrm>
            <a:off x="800100" y="8583930"/>
            <a:ext cx="2000250" cy="6629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664FEA-D1CB-4379-B180-073912D32036}"/>
              </a:ext>
            </a:extLst>
          </p:cNvPr>
          <p:cNvSpPr>
            <a:spLocks noGrp="1"/>
          </p:cNvSpPr>
          <p:nvPr/>
        </p:nvSpPr>
        <p:spPr>
          <a:xfrm>
            <a:off x="880110" y="8686800"/>
            <a:ext cx="184023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User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8D65F5-F91D-400B-8F69-B89AA15936DA}"/>
              </a:ext>
            </a:extLst>
          </p:cNvPr>
          <p:cNvSpPr>
            <a:spLocks noGrp="1"/>
          </p:cNvSpPr>
          <p:nvPr/>
        </p:nvSpPr>
        <p:spPr>
          <a:xfrm>
            <a:off x="2834640" y="8629650"/>
            <a:ext cx="4114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FB0372-B9D6-4B75-99BC-E68258B4223A}"/>
              </a:ext>
            </a:extLst>
          </p:cNvPr>
          <p:cNvSpPr>
            <a:spLocks noGrp="1"/>
          </p:cNvSpPr>
          <p:nvPr/>
        </p:nvSpPr>
        <p:spPr>
          <a:xfrm>
            <a:off x="3200400" y="8583930"/>
            <a:ext cx="2960370" cy="6629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946A32-1F40-49FE-970F-BA68A37BC983}"/>
              </a:ext>
            </a:extLst>
          </p:cNvPr>
          <p:cNvSpPr>
            <a:spLocks noGrp="1"/>
          </p:cNvSpPr>
          <p:nvPr/>
        </p:nvSpPr>
        <p:spPr>
          <a:xfrm>
            <a:off x="3280410" y="8686800"/>
            <a:ext cx="28003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Java Swing UI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DC7740-6754-4C46-A832-2DFFA01D9650}"/>
              </a:ext>
            </a:extLst>
          </p:cNvPr>
          <p:cNvSpPr>
            <a:spLocks noGrp="1"/>
          </p:cNvSpPr>
          <p:nvPr/>
        </p:nvSpPr>
        <p:spPr>
          <a:xfrm>
            <a:off x="6195060" y="8629650"/>
            <a:ext cx="4114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→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061F37-647E-47AD-B67D-BC560CB9542C}"/>
              </a:ext>
            </a:extLst>
          </p:cNvPr>
          <p:cNvSpPr>
            <a:spLocks noGrp="1"/>
          </p:cNvSpPr>
          <p:nvPr/>
        </p:nvSpPr>
        <p:spPr>
          <a:xfrm>
            <a:off x="6560820" y="8583930"/>
            <a:ext cx="3314700" cy="6629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98752D-CB92-4ECE-8EEF-04656FBE6F05}"/>
              </a:ext>
            </a:extLst>
          </p:cNvPr>
          <p:cNvSpPr>
            <a:spLocks noGrp="1"/>
          </p:cNvSpPr>
          <p:nvPr/>
        </p:nvSpPr>
        <p:spPr>
          <a:xfrm>
            <a:off x="6640830" y="8686800"/>
            <a:ext cx="31546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Core Java + OOP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8D476F-B23F-4D9A-BCEF-27D839737A7F}"/>
              </a:ext>
            </a:extLst>
          </p:cNvPr>
          <p:cNvSpPr>
            <a:spLocks noGrp="1"/>
          </p:cNvSpPr>
          <p:nvPr/>
        </p:nvSpPr>
        <p:spPr>
          <a:xfrm>
            <a:off x="9909810" y="8629650"/>
            <a:ext cx="4114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→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5628E2-5F9F-4FA2-86D8-F76170582FEA}"/>
              </a:ext>
            </a:extLst>
          </p:cNvPr>
          <p:cNvSpPr>
            <a:spLocks noGrp="1"/>
          </p:cNvSpPr>
          <p:nvPr/>
        </p:nvSpPr>
        <p:spPr>
          <a:xfrm>
            <a:off x="10275570" y="8583930"/>
            <a:ext cx="1817370" cy="6629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6B9A62-C30C-4698-9643-B1A1C02AB27C}"/>
              </a:ext>
            </a:extLst>
          </p:cNvPr>
          <p:cNvSpPr>
            <a:spLocks noGrp="1"/>
          </p:cNvSpPr>
          <p:nvPr/>
        </p:nvSpPr>
        <p:spPr>
          <a:xfrm>
            <a:off x="10355580" y="8686800"/>
            <a:ext cx="16573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JDBC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374967-3226-4892-BDA3-689147ED0A1B}"/>
              </a:ext>
            </a:extLst>
          </p:cNvPr>
          <p:cNvSpPr>
            <a:spLocks noGrp="1"/>
          </p:cNvSpPr>
          <p:nvPr/>
        </p:nvSpPr>
        <p:spPr>
          <a:xfrm>
            <a:off x="12127230" y="8629650"/>
            <a:ext cx="4114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→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197C28-BC31-43A7-8CFA-CCC14ED9A453}"/>
              </a:ext>
            </a:extLst>
          </p:cNvPr>
          <p:cNvSpPr>
            <a:spLocks noGrp="1"/>
          </p:cNvSpPr>
          <p:nvPr/>
        </p:nvSpPr>
        <p:spPr>
          <a:xfrm>
            <a:off x="12492990" y="8583930"/>
            <a:ext cx="4994910" cy="6629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4DF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43C553-4381-4AF8-B35E-D34A14830889}"/>
              </a:ext>
            </a:extLst>
          </p:cNvPr>
          <p:cNvSpPr>
            <a:spLocks noGrp="1"/>
          </p:cNvSpPr>
          <p:nvPr/>
        </p:nvSpPr>
        <p:spPr>
          <a:xfrm>
            <a:off x="12573000" y="8686800"/>
            <a:ext cx="483489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MySQL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5C7B77-480E-41BE-9D42-86798C46F19E}"/>
              </a:ext>
            </a:extLst>
          </p:cNvPr>
          <p:cNvSpPr>
            <a:spLocks noGrp="1"/>
          </p:cNvSpPr>
          <p:nvPr/>
        </p:nvSpPr>
        <p:spPr>
          <a:xfrm>
            <a:off x="3200400" y="9281160"/>
            <a:ext cx="29718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44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Frontend.java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03F853-DE1F-4DD8-8B3F-FDADCE421200}"/>
              </a:ext>
            </a:extLst>
          </p:cNvPr>
          <p:cNvSpPr>
            <a:spLocks noGrp="1"/>
          </p:cNvSpPr>
          <p:nvPr/>
        </p:nvSpPr>
        <p:spPr>
          <a:xfrm>
            <a:off x="6560820" y="9281160"/>
            <a:ext cx="33147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44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Backend.java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2708BA-EDF7-4533-A9ED-BC82C56C31C6}"/>
              </a:ext>
            </a:extLst>
          </p:cNvPr>
          <p:cNvSpPr>
            <a:spLocks noGrp="1"/>
          </p:cNvSpPr>
          <p:nvPr/>
        </p:nvSpPr>
        <p:spPr>
          <a:xfrm>
            <a:off x="12492990" y="9281160"/>
            <a:ext cx="499491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440" b="0">
                <a:solidFill>
                  <a:srgbClr val="637069"/>
                </a:solidFill>
                <a:latin typeface="Arial Rounded MT Bold" panose="020F0704030504030204" pitchFamily="34" charset="0"/>
                <a:ea typeface="DejaVu Sans"/>
                <a:cs typeface="DejaVu Sans"/>
              </a:rPr>
              <a:t>Users, Cases, Evidence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F81146B-CE48-504B-A56D-F625009D8FF2}"/>
              </a:ext>
            </a:extLst>
          </p:cNvPr>
          <p:cNvSpPr/>
          <p:nvPr/>
        </p:nvSpPr>
        <p:spPr>
          <a:xfrm>
            <a:off x="431409" y="2214196"/>
            <a:ext cx="7569590" cy="1871736"/>
          </a:xfrm>
          <a:prstGeom prst="roundRect">
            <a:avLst/>
          </a:prstGeom>
          <a:noFill/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0387102D-7ACA-D641-E664-4E157D81A77C}"/>
              </a:ext>
            </a:extLst>
          </p:cNvPr>
          <p:cNvSpPr/>
          <p:nvPr/>
        </p:nvSpPr>
        <p:spPr>
          <a:xfrm>
            <a:off x="8656320" y="2214198"/>
            <a:ext cx="8717280" cy="1537701"/>
          </a:xfrm>
          <a:prstGeom prst="round2SameRect">
            <a:avLst/>
          </a:prstGeom>
          <a:noFill/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23966624-96E7-497F-C768-3F6C1201E8C3}"/>
              </a:ext>
            </a:extLst>
          </p:cNvPr>
          <p:cNvSpPr/>
          <p:nvPr/>
        </p:nvSpPr>
        <p:spPr>
          <a:xfrm rot="10800000">
            <a:off x="8656320" y="3846240"/>
            <a:ext cx="8740140" cy="3571830"/>
          </a:xfrm>
          <a:prstGeom prst="round2Same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3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17E92DB-086A-71EF-8EAD-4ABD7B4CCFB2}"/>
              </a:ext>
            </a:extLst>
          </p:cNvPr>
          <p:cNvSpPr/>
          <p:nvPr/>
        </p:nvSpPr>
        <p:spPr>
          <a:xfrm>
            <a:off x="3486150" y="7155178"/>
            <a:ext cx="13201650" cy="29374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FBBE0A-46CA-4DB2-8500-93DCF7672BD8}"/>
              </a:ext>
            </a:extLst>
          </p:cNvPr>
          <p:cNvSpPr>
            <a:spLocks noGrp="1"/>
          </p:cNvSpPr>
          <p:nvPr/>
        </p:nvSpPr>
        <p:spPr>
          <a:xfrm>
            <a:off x="685800" y="445770"/>
            <a:ext cx="16802100" cy="8686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7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3870" b="1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Project Timeline &amp; Progress</a:t>
            </a:r>
            <a:r>
              <a:rPr lang="en-US" sz="3870" b="1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</a:t>
            </a:r>
            <a:r>
              <a:rPr lang="en-US" sz="3870" b="1" dirty="0">
                <a:solidFill>
                  <a:srgbClr val="42795A"/>
                </a:solidFill>
                <a:latin typeface="Franklin Gothic Demi" panose="020B0703020102020204" pitchFamily="34" charset="0"/>
                <a:ea typeface="DejaVu Sans"/>
                <a:cs typeface="DejaVu Sans"/>
              </a:rPr>
              <a:t>:-</a:t>
            </a:r>
            <a:r>
              <a:rPr lang="en-US" sz="3870" b="1" u="sng" dirty="0">
                <a:solidFill>
                  <a:srgbClr val="42795A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</a:t>
            </a:r>
            <a:endParaRPr sz="3870" b="1" u="sng" dirty="0">
              <a:solidFill>
                <a:srgbClr val="42795A"/>
              </a:solidFill>
              <a:latin typeface="Perpetua Titling MT" panose="02020502060505020804" pitchFamily="18" charset="0"/>
              <a:ea typeface="DejaVu Sans"/>
              <a:cs typeface="DejaVu Sans"/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71AC69F-1872-4AC0-BABE-63F946F9CE2B}"/>
              </a:ext>
            </a:extLst>
          </p:cNvPr>
          <p:cNvSpPr>
            <a:spLocks noGrp="1"/>
          </p:cNvSpPr>
          <p:nvPr/>
        </p:nvSpPr>
        <p:spPr>
          <a:xfrm>
            <a:off x="800100" y="1394460"/>
            <a:ext cx="16687800" cy="0"/>
          </a:xfrm>
          <a:prstGeom prst="line">
            <a:avLst/>
          </a:prstGeom>
          <a:noFill/>
          <a:ln w="9525">
            <a:solidFill>
              <a:srgbClr val="42795A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1188-DE3F-4301-94AC-3C443AC86C86}"/>
              </a:ext>
            </a:extLst>
          </p:cNvPr>
          <p:cNvSpPr>
            <a:spLocks noGrp="1"/>
          </p:cNvSpPr>
          <p:nvPr/>
        </p:nvSpPr>
        <p:spPr>
          <a:xfrm>
            <a:off x="685800" y="1577340"/>
            <a:ext cx="13144500" cy="4800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8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980" b="0" dirty="0">
                <a:solidFill>
                  <a:schemeClr val="accent6">
                    <a:lumMod val="50000"/>
                  </a:schemeClr>
                </a:solidFill>
                <a:latin typeface="DejaVu Sans"/>
                <a:ea typeface="DejaVu Sans"/>
                <a:cs typeface="DejaVu Sans"/>
              </a:rPr>
              <a:t>Cyber Forensic Investigation Portal</a:t>
            </a:r>
            <a:r>
              <a:rPr lang="en-US" sz="1980" b="0" dirty="0">
                <a:solidFill>
                  <a:schemeClr val="accent6">
                    <a:lumMod val="50000"/>
                  </a:schemeClr>
                </a:solidFill>
                <a:latin typeface="DejaVu Sans"/>
                <a:ea typeface="DejaVu Sans"/>
                <a:cs typeface="DejaVu Sans"/>
              </a:rPr>
              <a:t>’s </a:t>
            </a:r>
            <a:r>
              <a:rPr lang="en-IN" sz="1920" dirty="0">
                <a:solidFill>
                  <a:schemeClr val="accent6">
                    <a:lumMod val="50000"/>
                  </a:schemeClr>
                </a:solidFill>
                <a:latin typeface="DejaVu Sans"/>
                <a:ea typeface="DejaVu Sans"/>
                <a:cs typeface="DejaVu Sans"/>
              </a:rPr>
              <a:t>August to final demonstration planning :</a:t>
            </a:r>
          </a:p>
          <a:p>
            <a:pPr>
              <a:defRPr sz="198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endParaRPr sz="1980" b="0" dirty="0">
              <a:solidFill>
                <a:srgbClr val="63706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0B109-6533-43C6-B021-7855BA1AC591}"/>
              </a:ext>
            </a:extLst>
          </p:cNvPr>
          <p:cNvSpPr>
            <a:spLocks noGrp="1"/>
          </p:cNvSpPr>
          <p:nvPr/>
        </p:nvSpPr>
        <p:spPr>
          <a:xfrm>
            <a:off x="16687800" y="9715500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44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1314454-8AD2-468C-A452-4A35E1FBA44F}"/>
              </a:ext>
            </a:extLst>
          </p:cNvPr>
          <p:cNvSpPr>
            <a:spLocks noGrp="1"/>
          </p:cNvSpPr>
          <p:nvPr/>
        </p:nvSpPr>
        <p:spPr>
          <a:xfrm>
            <a:off x="3268980" y="3154680"/>
            <a:ext cx="0" cy="6263640"/>
          </a:xfrm>
          <a:prstGeom prst="line">
            <a:avLst/>
          </a:prstGeom>
          <a:noFill/>
          <a:ln w="9525">
            <a:solidFill>
              <a:srgbClr val="DDE4DF"/>
            </a:solidFill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15FD27-3835-4C1B-9436-FECBBE574DE2}"/>
              </a:ext>
            </a:extLst>
          </p:cNvPr>
          <p:cNvSpPr>
            <a:spLocks noGrp="1"/>
          </p:cNvSpPr>
          <p:nvPr/>
        </p:nvSpPr>
        <p:spPr>
          <a:xfrm>
            <a:off x="3177540" y="3211830"/>
            <a:ext cx="182880" cy="182880"/>
          </a:xfrm>
          <a:prstGeom prst="ellipse">
            <a:avLst/>
          </a:prstGeom>
          <a:solidFill>
            <a:srgbClr val="42795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7D4B6-07B8-456F-9BD4-539E30FFDABD}"/>
              </a:ext>
            </a:extLst>
          </p:cNvPr>
          <p:cNvSpPr>
            <a:spLocks noGrp="1"/>
          </p:cNvSpPr>
          <p:nvPr/>
        </p:nvSpPr>
        <p:spPr>
          <a:xfrm>
            <a:off x="685800" y="296037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8–15 August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81C63-BAB0-4D03-9277-2C06DF84B8F6}"/>
              </a:ext>
            </a:extLst>
          </p:cNvPr>
          <p:cNvSpPr>
            <a:spLocks noGrp="1"/>
          </p:cNvSpPr>
          <p:nvPr/>
        </p:nvSpPr>
        <p:spPr>
          <a:xfrm>
            <a:off x="3600450" y="293751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Planning &amp; Requirement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DB09F-E4E5-4882-B364-F993A431E213}"/>
              </a:ext>
            </a:extLst>
          </p:cNvPr>
          <p:cNvSpPr>
            <a:spLocks noGrp="1"/>
          </p:cNvSpPr>
          <p:nvPr/>
        </p:nvSpPr>
        <p:spPr>
          <a:xfrm>
            <a:off x="14973300" y="3157538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9E4EA-9C9C-43D2-8EA4-683F98B8FEBE}"/>
              </a:ext>
            </a:extLst>
          </p:cNvPr>
          <p:cNvSpPr>
            <a:spLocks noGrp="1"/>
          </p:cNvSpPr>
          <p:nvPr/>
        </p:nvSpPr>
        <p:spPr>
          <a:xfrm>
            <a:off x="3600450" y="33832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Project idea finalized, requirements identified and basic modules planned.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03373C-A35C-45C3-B56E-805374B83A7A}"/>
              </a:ext>
            </a:extLst>
          </p:cNvPr>
          <p:cNvSpPr>
            <a:spLocks noGrp="1"/>
          </p:cNvSpPr>
          <p:nvPr/>
        </p:nvSpPr>
        <p:spPr>
          <a:xfrm>
            <a:off x="3177540" y="4240530"/>
            <a:ext cx="182880" cy="182880"/>
          </a:xfrm>
          <a:prstGeom prst="ellipse">
            <a:avLst/>
          </a:prstGeom>
          <a:solidFill>
            <a:srgbClr val="42795A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9D3A18-613E-4D69-AA38-2CAEB9F24FAF}"/>
              </a:ext>
            </a:extLst>
          </p:cNvPr>
          <p:cNvSpPr>
            <a:spLocks noGrp="1"/>
          </p:cNvSpPr>
          <p:nvPr/>
        </p:nvSpPr>
        <p:spPr>
          <a:xfrm>
            <a:off x="685800" y="398907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16–31 August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D36A1-CF2B-4328-BEDB-C1C12BC1023C}"/>
              </a:ext>
            </a:extLst>
          </p:cNvPr>
          <p:cNvSpPr>
            <a:spLocks noGrp="1"/>
          </p:cNvSpPr>
          <p:nvPr/>
        </p:nvSpPr>
        <p:spPr>
          <a:xfrm>
            <a:off x="3600450" y="396621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Basic</a:t>
            </a: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</a:t>
            </a:r>
            <a:r>
              <a:rPr lang="en-US"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frontend</a:t>
            </a: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 &amp; Database Setup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DFD61-8B2D-4302-86E5-AEC66CC5C1C8}"/>
              </a:ext>
            </a:extLst>
          </p:cNvPr>
          <p:cNvSpPr>
            <a:spLocks noGrp="1"/>
          </p:cNvSpPr>
          <p:nvPr/>
        </p:nvSpPr>
        <p:spPr>
          <a:xfrm>
            <a:off x="14973300" y="421767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 dirty="0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695230-CFC6-406A-85EA-CC5F203B2BCE}"/>
              </a:ext>
            </a:extLst>
          </p:cNvPr>
          <p:cNvSpPr>
            <a:spLocks noGrp="1"/>
          </p:cNvSpPr>
          <p:nvPr/>
        </p:nvSpPr>
        <p:spPr>
          <a:xfrm>
            <a:off x="3600450" y="44119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Java Swing interface created. MySQL Users, Cases and Evidence tables prepared.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A90174-8CF0-4618-9A64-7E6BA843558B}"/>
              </a:ext>
            </a:extLst>
          </p:cNvPr>
          <p:cNvSpPr>
            <a:spLocks noGrp="1"/>
          </p:cNvSpPr>
          <p:nvPr/>
        </p:nvSpPr>
        <p:spPr>
          <a:xfrm>
            <a:off x="3554730" y="4949190"/>
            <a:ext cx="13018758" cy="2125977"/>
          </a:xfrm>
          <a:prstGeom prst="rect">
            <a:avLst/>
          </a:prstGeom>
          <a:solidFill>
            <a:srgbClr val="F0F6F1"/>
          </a:solidFill>
          <a:ln w="0">
            <a:noFill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DEFC63-126C-4253-BC0F-A375EE09326C}"/>
              </a:ext>
            </a:extLst>
          </p:cNvPr>
          <p:cNvSpPr>
            <a:spLocks noGrp="1"/>
          </p:cNvSpPr>
          <p:nvPr/>
        </p:nvSpPr>
        <p:spPr>
          <a:xfrm>
            <a:off x="3177540" y="5269230"/>
            <a:ext cx="182880" cy="182880"/>
          </a:xfrm>
          <a:prstGeom prst="ellipse">
            <a:avLst/>
          </a:prstGeom>
          <a:solidFill>
            <a:srgbClr val="42795A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01696-2247-4F29-86F7-1FF0363839F5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1–30 September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0B7B83-FD39-4141-874B-1A9AAF1882AA}"/>
              </a:ext>
            </a:extLst>
          </p:cNvPr>
          <p:cNvSpPr>
            <a:spLocks noGrp="1"/>
          </p:cNvSpPr>
          <p:nvPr/>
        </p:nvSpPr>
        <p:spPr>
          <a:xfrm>
            <a:off x="3600450" y="499491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Core Module Development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B956F7-7ADE-4CEA-BFF9-6446250DEAE6}"/>
              </a:ext>
            </a:extLst>
          </p:cNvPr>
          <p:cNvSpPr>
            <a:spLocks noGrp="1"/>
          </p:cNvSpPr>
          <p:nvPr/>
        </p:nvSpPr>
        <p:spPr>
          <a:xfrm>
            <a:off x="3600450" y="54406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Implemented modules and working prototype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392B38-8CF4-4F8C-AB84-DD11ED79A8DA}"/>
              </a:ext>
            </a:extLst>
          </p:cNvPr>
          <p:cNvSpPr>
            <a:spLocks noGrp="1"/>
          </p:cNvSpPr>
          <p:nvPr/>
        </p:nvSpPr>
        <p:spPr>
          <a:xfrm>
            <a:off x="3714750" y="5909310"/>
            <a:ext cx="46863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Frontend.java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35DD2C-051F-4E25-90FB-E1EEEC9FA4FB}"/>
              </a:ext>
            </a:extLst>
          </p:cNvPr>
          <p:cNvSpPr>
            <a:spLocks noGrp="1"/>
          </p:cNvSpPr>
          <p:nvPr/>
        </p:nvSpPr>
        <p:spPr>
          <a:xfrm>
            <a:off x="3714750" y="6160770"/>
            <a:ext cx="46863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Backend.java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8797B8-C716-4390-9458-350025EE42FF}"/>
              </a:ext>
            </a:extLst>
          </p:cNvPr>
          <p:cNvSpPr>
            <a:spLocks noGrp="1"/>
          </p:cNvSpPr>
          <p:nvPr/>
        </p:nvSpPr>
        <p:spPr>
          <a:xfrm>
            <a:off x="3714750" y="6412230"/>
            <a:ext cx="46863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Login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A65AEB-D5B0-4385-9BE4-0DB2795563C9}"/>
              </a:ext>
            </a:extLst>
          </p:cNvPr>
          <p:cNvSpPr>
            <a:spLocks noGrp="1"/>
          </p:cNvSpPr>
          <p:nvPr/>
        </p:nvSpPr>
        <p:spPr>
          <a:xfrm>
            <a:off x="3714750" y="6663690"/>
            <a:ext cx="468630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Case Management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11C2D5-806E-457F-AC13-EAF8BC3E81CA}"/>
              </a:ext>
            </a:extLst>
          </p:cNvPr>
          <p:cNvSpPr>
            <a:spLocks noGrp="1"/>
          </p:cNvSpPr>
          <p:nvPr/>
        </p:nvSpPr>
        <p:spPr>
          <a:xfrm>
            <a:off x="9349740" y="5909310"/>
            <a:ext cx="554355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Evidence Management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12277-5C72-4417-AE52-5DABEE56079E}"/>
              </a:ext>
            </a:extLst>
          </p:cNvPr>
          <p:cNvSpPr>
            <a:spLocks noGrp="1"/>
          </p:cNvSpPr>
          <p:nvPr/>
        </p:nvSpPr>
        <p:spPr>
          <a:xfrm>
            <a:off x="9349740" y="6160770"/>
            <a:ext cx="554355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JDBC + MySQL connectivity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E4130-9912-4D98-AE52-DC373DD756B3}"/>
              </a:ext>
            </a:extLst>
          </p:cNvPr>
          <p:cNvSpPr>
            <a:spLocks noGrp="1"/>
          </p:cNvSpPr>
          <p:nvPr/>
        </p:nvSpPr>
        <p:spPr>
          <a:xfrm>
            <a:off x="9349740" y="6412230"/>
            <a:ext cx="554355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SHA-256 Hashing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2AEA36-48A9-447F-B4C7-C4EEE6A52711}"/>
              </a:ext>
            </a:extLst>
          </p:cNvPr>
          <p:cNvSpPr>
            <a:spLocks noGrp="1"/>
          </p:cNvSpPr>
          <p:nvPr/>
        </p:nvSpPr>
        <p:spPr>
          <a:xfrm>
            <a:off x="9349740" y="6663690"/>
            <a:ext cx="5543550" cy="3314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303A34"/>
                </a:solidFill>
                <a:latin typeface="DejaVu Sans"/>
                <a:ea typeface="DejaVu Sans"/>
                <a:cs typeface="DejaVu Sans"/>
              </a:rPr>
              <a:t>✓ Local Prototype Testing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790DF5D-25C8-423B-AE86-E2B6B17F8762}"/>
              </a:ext>
            </a:extLst>
          </p:cNvPr>
          <p:cNvSpPr>
            <a:spLocks noGrp="1"/>
          </p:cNvSpPr>
          <p:nvPr/>
        </p:nvSpPr>
        <p:spPr>
          <a:xfrm>
            <a:off x="3177540" y="7395210"/>
            <a:ext cx="182880" cy="182880"/>
          </a:xfrm>
          <a:prstGeom prst="ellipse">
            <a:avLst/>
          </a:prstGeom>
          <a:solidFill>
            <a:srgbClr val="AD7839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4D4C95-8C0F-4ABA-999E-4D262C142DC4}"/>
              </a:ext>
            </a:extLst>
          </p:cNvPr>
          <p:cNvSpPr>
            <a:spLocks noGrp="1"/>
          </p:cNvSpPr>
          <p:nvPr/>
        </p:nvSpPr>
        <p:spPr>
          <a:xfrm>
            <a:off x="685800" y="714375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1–31 October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5F9E2B-D43F-4251-9C2A-A1DA32E94688}"/>
              </a:ext>
            </a:extLst>
          </p:cNvPr>
          <p:cNvSpPr>
            <a:spLocks noGrp="1"/>
          </p:cNvSpPr>
          <p:nvPr/>
        </p:nvSpPr>
        <p:spPr>
          <a:xfrm>
            <a:off x="3600450" y="721233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Advanced UI </a:t>
            </a: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Features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08639D-C75A-4200-9112-4FBD1D5757B5}"/>
              </a:ext>
            </a:extLst>
          </p:cNvPr>
          <p:cNvSpPr>
            <a:spLocks noGrp="1"/>
          </p:cNvSpPr>
          <p:nvPr/>
        </p:nvSpPr>
        <p:spPr>
          <a:xfrm>
            <a:off x="14973300" y="739521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 dirty="0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Upcoming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E81405-863E-48B2-92E5-C218B1ABA759}"/>
              </a:ext>
            </a:extLst>
          </p:cNvPr>
          <p:cNvSpPr>
            <a:spLocks noGrp="1"/>
          </p:cNvSpPr>
          <p:nvPr/>
        </p:nvSpPr>
        <p:spPr>
          <a:xfrm>
            <a:off x="3600450" y="76123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 dirty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Extend investigation functionality, add testing and improve module reliability.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E37FB891-9E65-4325-8446-E8B83F83F64D}"/>
              </a:ext>
            </a:extLst>
          </p:cNvPr>
          <p:cNvSpPr>
            <a:spLocks noGrp="1"/>
          </p:cNvSpPr>
          <p:nvPr/>
        </p:nvSpPr>
        <p:spPr>
          <a:xfrm flipV="1">
            <a:off x="3600450" y="8103868"/>
            <a:ext cx="13087350" cy="1"/>
          </a:xfrm>
          <a:prstGeom prst="line">
            <a:avLst/>
          </a:prstGeom>
          <a:noFill/>
          <a:ln w="9525">
            <a:solidFill>
              <a:srgbClr val="DDE4DF"/>
            </a:solidFill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EF99384-17D0-45F6-AD86-41FA5BA829C7}"/>
              </a:ext>
            </a:extLst>
          </p:cNvPr>
          <p:cNvSpPr>
            <a:spLocks noGrp="1"/>
          </p:cNvSpPr>
          <p:nvPr/>
        </p:nvSpPr>
        <p:spPr>
          <a:xfrm>
            <a:off x="3177540" y="8423910"/>
            <a:ext cx="182880" cy="182880"/>
          </a:xfrm>
          <a:prstGeom prst="ellipse">
            <a:avLst/>
          </a:prstGeom>
          <a:solidFill>
            <a:srgbClr val="AD7839"/>
          </a:solidFill>
          <a:ln w="0">
            <a:noFill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51C721-7255-4C5E-B1B5-A635A292E940}"/>
              </a:ext>
            </a:extLst>
          </p:cNvPr>
          <p:cNvSpPr>
            <a:spLocks noGrp="1"/>
          </p:cNvSpPr>
          <p:nvPr/>
        </p:nvSpPr>
        <p:spPr>
          <a:xfrm>
            <a:off x="685800" y="817245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1–8 November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67E905-D1A9-48D2-9213-DE69731D331C}"/>
              </a:ext>
            </a:extLst>
          </p:cNvPr>
          <p:cNvSpPr>
            <a:spLocks noGrp="1"/>
          </p:cNvSpPr>
          <p:nvPr/>
        </p:nvSpPr>
        <p:spPr>
          <a:xfrm>
            <a:off x="3600450" y="819531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Testing &amp; </a:t>
            </a: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Documentation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44A666-F5E1-4F22-B26E-BD457A30BB2E}"/>
              </a:ext>
            </a:extLst>
          </p:cNvPr>
          <p:cNvSpPr>
            <a:spLocks noGrp="1"/>
          </p:cNvSpPr>
          <p:nvPr/>
        </p:nvSpPr>
        <p:spPr>
          <a:xfrm>
            <a:off x="14973300" y="842391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 dirty="0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Upcoming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EDA90-1E4D-46EC-B9FA-F13EB6CABACB}"/>
              </a:ext>
            </a:extLst>
          </p:cNvPr>
          <p:cNvSpPr>
            <a:spLocks noGrp="1"/>
          </p:cNvSpPr>
          <p:nvPr/>
        </p:nvSpPr>
        <p:spPr>
          <a:xfrm>
            <a:off x="3600450" y="86410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Project documentation, final preparation, review and refinement.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5CC886E9-675D-450E-83E4-13A6A00948D4}"/>
              </a:ext>
            </a:extLst>
          </p:cNvPr>
          <p:cNvSpPr>
            <a:spLocks noGrp="1"/>
          </p:cNvSpPr>
          <p:nvPr/>
        </p:nvSpPr>
        <p:spPr>
          <a:xfrm>
            <a:off x="3600450" y="9132570"/>
            <a:ext cx="13087350" cy="0"/>
          </a:xfrm>
          <a:prstGeom prst="line">
            <a:avLst/>
          </a:prstGeom>
          <a:noFill/>
          <a:ln w="9525">
            <a:solidFill>
              <a:srgbClr val="DDE4DF"/>
            </a:solidFill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53A967-7115-4083-BF24-21A56553610C}"/>
              </a:ext>
            </a:extLst>
          </p:cNvPr>
          <p:cNvSpPr>
            <a:spLocks noGrp="1"/>
          </p:cNvSpPr>
          <p:nvPr/>
        </p:nvSpPr>
        <p:spPr>
          <a:xfrm>
            <a:off x="3177540" y="9452610"/>
            <a:ext cx="182880" cy="182880"/>
          </a:xfrm>
          <a:prstGeom prst="ellipse">
            <a:avLst/>
          </a:prstGeom>
          <a:solidFill>
            <a:srgbClr val="AD7839"/>
          </a:solidFill>
          <a:ln w="0">
            <a:noFill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70A2B9-CEBC-4040-B188-12584445B19E}"/>
              </a:ext>
            </a:extLst>
          </p:cNvPr>
          <p:cNvSpPr>
            <a:spLocks noGrp="1"/>
          </p:cNvSpPr>
          <p:nvPr/>
        </p:nvSpPr>
        <p:spPr>
          <a:xfrm>
            <a:off x="685800" y="9201150"/>
            <a:ext cx="2514600" cy="491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10 November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64C8BC-56C3-42C2-817C-FEBC089AF8E8}"/>
              </a:ext>
            </a:extLst>
          </p:cNvPr>
          <p:cNvSpPr>
            <a:spLocks noGrp="1"/>
          </p:cNvSpPr>
          <p:nvPr/>
        </p:nvSpPr>
        <p:spPr>
          <a:xfrm>
            <a:off x="3600450" y="9224010"/>
            <a:ext cx="10915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303A34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Final Preparation &amp; </a:t>
            </a:r>
            <a:r>
              <a:rPr sz="2250" b="1" dirty="0">
                <a:solidFill>
                  <a:srgbClr val="303A34"/>
                </a:solidFill>
                <a:latin typeface="Perpetua Titling MT" panose="02020502060505020804" pitchFamily="18" charset="0"/>
                <a:ea typeface="DejaVu Sans"/>
                <a:cs typeface="DejaVu Sans"/>
              </a:rPr>
              <a:t>Project Demonstration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BABD13-7EAE-484B-B08F-8D3D474CBAB9}"/>
              </a:ext>
            </a:extLst>
          </p:cNvPr>
          <p:cNvSpPr>
            <a:spLocks noGrp="1"/>
          </p:cNvSpPr>
          <p:nvPr/>
        </p:nvSpPr>
        <p:spPr>
          <a:xfrm>
            <a:off x="14973300" y="945261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AD7839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 dirty="0">
                <a:solidFill>
                  <a:srgbClr val="AD7839"/>
                </a:solidFill>
                <a:latin typeface="DejaVu Sans"/>
                <a:ea typeface="DejaVu Sans"/>
                <a:cs typeface="DejaVu Sans"/>
              </a:rPr>
              <a:t>Upcoming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349514-D7C5-43AF-AC98-E2D66E2FF66B}"/>
              </a:ext>
            </a:extLst>
          </p:cNvPr>
          <p:cNvSpPr>
            <a:spLocks noGrp="1"/>
          </p:cNvSpPr>
          <p:nvPr/>
        </p:nvSpPr>
        <p:spPr>
          <a:xfrm>
            <a:off x="3600450" y="9669780"/>
            <a:ext cx="11087100" cy="445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defRPr>
            </a:pPr>
            <a:r>
              <a:rPr sz="1620" b="0">
                <a:solidFill>
                  <a:srgbClr val="637069"/>
                </a:solidFill>
                <a:latin typeface="DejaVu Sans"/>
                <a:ea typeface="DejaVu Sans"/>
                <a:cs typeface="DejaVu Sans"/>
              </a:rPr>
              <a:t>Final working demonstration and project workflow.</a:t>
            </a:r>
          </a:p>
        </p:txBody>
      </p:sp>
      <p:sp>
        <p:nvSpPr>
          <p:cNvPr id="53" name="Rectangle: Diagonal Corners Snipped 52">
            <a:extLst>
              <a:ext uri="{FF2B5EF4-FFF2-40B4-BE49-F238E27FC236}">
                <a16:creationId xmlns:a16="http://schemas.microsoft.com/office/drawing/2014/main" id="{0823CD41-54C2-1456-B185-D7907B4F4A0F}"/>
              </a:ext>
            </a:extLst>
          </p:cNvPr>
          <p:cNvSpPr/>
          <p:nvPr/>
        </p:nvSpPr>
        <p:spPr>
          <a:xfrm>
            <a:off x="3543300" y="2788920"/>
            <a:ext cx="13041620" cy="1062990"/>
          </a:xfrm>
          <a:prstGeom prst="snip2Diag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Diagonal Corners Snipped 54">
            <a:extLst>
              <a:ext uri="{FF2B5EF4-FFF2-40B4-BE49-F238E27FC236}">
                <a16:creationId xmlns:a16="http://schemas.microsoft.com/office/drawing/2014/main" id="{11FE42E0-345B-82FB-EF0F-EA4CBD5EC8D1}"/>
              </a:ext>
            </a:extLst>
          </p:cNvPr>
          <p:cNvSpPr/>
          <p:nvPr/>
        </p:nvSpPr>
        <p:spPr>
          <a:xfrm>
            <a:off x="3531868" y="3857625"/>
            <a:ext cx="13041620" cy="1062990"/>
          </a:xfrm>
          <a:prstGeom prst="snip2DiagRect">
            <a:avLst>
              <a:gd name="adj1" fmla="val 0"/>
              <a:gd name="adj2" fmla="val 1666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28D56E-CFA0-97B7-2655-E4A98514ED81}"/>
              </a:ext>
            </a:extLst>
          </p:cNvPr>
          <p:cNvSpPr/>
          <p:nvPr/>
        </p:nvSpPr>
        <p:spPr>
          <a:xfrm>
            <a:off x="3543300" y="4920615"/>
            <a:ext cx="13041620" cy="216598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18E47F6-E059-655E-4A19-CE634631F0D4}"/>
              </a:ext>
            </a:extLst>
          </p:cNvPr>
          <p:cNvSpPr/>
          <p:nvPr/>
        </p:nvSpPr>
        <p:spPr>
          <a:xfrm>
            <a:off x="15156180" y="5720716"/>
            <a:ext cx="1200150" cy="4572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927F8B-24B0-94C9-E516-716B0EE22FCF}"/>
              </a:ext>
            </a:extLst>
          </p:cNvPr>
          <p:cNvSpPr>
            <a:spLocks noGrp="1"/>
          </p:cNvSpPr>
          <p:nvPr/>
        </p:nvSpPr>
        <p:spPr>
          <a:xfrm>
            <a:off x="15179040" y="5766435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10" b="1">
                <a:solidFill>
                  <a:srgbClr val="42795A"/>
                </a:solidFill>
                <a:latin typeface="DejaVu Sans"/>
                <a:ea typeface="DejaVu Sans"/>
                <a:cs typeface="DejaVu Sans"/>
              </a:defRPr>
            </a:pPr>
            <a:r>
              <a:rPr sz="1710" b="1" dirty="0">
                <a:solidFill>
                  <a:srgbClr val="42795A"/>
                </a:solidFill>
                <a:latin typeface="DejaVu Sans"/>
                <a:ea typeface="DejaVu Sans"/>
                <a:cs typeface="DejaVu Sans"/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979802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338</Words>
  <Application>Microsoft Office PowerPoint</Application>
  <PresentationFormat>Custom</PresentationFormat>
  <Paragraphs>74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Perpetua Titling MT</vt:lpstr>
      <vt:lpstr>Franklin Gothic Demi</vt:lpstr>
      <vt:lpstr>Arial</vt:lpstr>
      <vt:lpstr>Arial Rounded MT Bold</vt:lpstr>
      <vt:lpstr>Calibri</vt:lpstr>
      <vt:lpstr>Belleza</vt:lpstr>
      <vt:lpstr>DejaVu Sans</vt:lpstr>
      <vt:lpstr>Office Theme</vt:lpstr>
      <vt:lpstr>ChatGPT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Forensic Portal</dc:title>
  <cp:lastModifiedBy>Kushagra Kashyap RA2511056010002</cp:lastModifiedBy>
  <cp:revision>1</cp:revision>
  <dcterms:created xsi:type="dcterms:W3CDTF">2006-08-16T00:00:00Z</dcterms:created>
  <dcterms:modified xsi:type="dcterms:W3CDTF">2026-10-01T07:30:18Z</dcterms:modified>
  <dc:identifier>DAHWtAb0ijk</dc:identifier>
</cp:coreProperties>
</file>